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0" r:id="rId6"/>
    <p:sldId id="271" r:id="rId7"/>
    <p:sldId id="258" r:id="rId8"/>
    <p:sldId id="259" r:id="rId9"/>
    <p:sldId id="268" r:id="rId10"/>
    <p:sldId id="262" r:id="rId11"/>
    <p:sldId id="263" r:id="rId12"/>
    <p:sldId id="264" r:id="rId13"/>
    <p:sldId id="266" r:id="rId14"/>
    <p:sldId id="265" r:id="rId15"/>
    <p:sldId id="27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6E902-EE75-4C7B-8660-AB34CB4F9977}" v="65" dt="2026-01-03T01:24:59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4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1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56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8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7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2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42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1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8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6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E6293-C50C-4160-B6C6-2FAF0DEDDFF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A4389-3476-4B03-BA66-F5E90EF6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8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HTML5-D03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3406" y="3602038"/>
            <a:ext cx="9544594" cy="264200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 err="1"/>
              <a:t>Api’s</a:t>
            </a:r>
            <a:r>
              <a:rPr lang="en-US" dirty="0"/>
              <a:t> : JS API’s : Objects plus methods , properties , events 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Media 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Drag And Drop 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Browser Storage : Cookie 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Form </a:t>
            </a:r>
          </a:p>
          <a:p>
            <a:pPr marL="342900" indent="-342900" algn="l">
              <a:buFontTx/>
              <a:buChar char="-"/>
            </a:pPr>
            <a:r>
              <a:rPr lang="en-US" dirty="0" err="1"/>
              <a:t>Geolocation</a:t>
            </a:r>
            <a:r>
              <a:rPr lang="en-US" dirty="0"/>
              <a:t> </a:t>
            </a:r>
          </a:p>
          <a:p>
            <a:pPr marL="342900" indent="-342900" algn="l">
              <a:buFontTx/>
              <a:buChar char="-"/>
            </a:pPr>
            <a:r>
              <a:rPr lang="en-US" b="1" dirty="0"/>
              <a:t>Canvas  : Video : task  demo </a:t>
            </a:r>
          </a:p>
        </p:txBody>
      </p:sp>
    </p:spTree>
    <p:extLst>
      <p:ext uri="{BB962C8B-B14F-4D97-AF65-F5344CB8AC3E}">
        <p14:creationId xmlns:p14="http://schemas.microsoft.com/office/powerpoint/2010/main" val="215986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26D996-47F9-C0E9-C4ED-00C98913F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814916"/>
              </p:ext>
            </p:extLst>
          </p:nvPr>
        </p:nvGraphicFramePr>
        <p:xfrm>
          <a:off x="531995" y="1367078"/>
          <a:ext cx="5999433" cy="516335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999811">
                  <a:extLst>
                    <a:ext uri="{9D8B030D-6E8A-4147-A177-3AD203B41FA5}">
                      <a16:colId xmlns:a16="http://schemas.microsoft.com/office/drawing/2014/main" val="3787100874"/>
                    </a:ext>
                  </a:extLst>
                </a:gridCol>
                <a:gridCol w="1999811">
                  <a:extLst>
                    <a:ext uri="{9D8B030D-6E8A-4147-A177-3AD203B41FA5}">
                      <a16:colId xmlns:a16="http://schemas.microsoft.com/office/drawing/2014/main" val="707092737"/>
                    </a:ext>
                  </a:extLst>
                </a:gridCol>
                <a:gridCol w="1999811">
                  <a:extLst>
                    <a:ext uri="{9D8B030D-6E8A-4147-A177-3AD203B41FA5}">
                      <a16:colId xmlns:a16="http://schemas.microsoft.com/office/drawing/2014/main" val="407380385"/>
                    </a:ext>
                  </a:extLst>
                </a:gridCol>
              </a:tblGrid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>
                          <a:solidFill>
                            <a:srgbClr val="FF0000"/>
                          </a:solidFill>
                        </a:rPr>
                        <a:t>النوع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>
                          <a:solidFill>
                            <a:srgbClr val="FF0000"/>
                          </a:solidFill>
                        </a:rPr>
                        <a:t>الوصف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485730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currentTime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الوقت الحالي بالثواني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306242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مدة الفيديو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273869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هل الفيديو متوقف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999342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هل انتهى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853973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(0–1)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مستوى الصوت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54259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كتم الصوت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648303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playbackRate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سرعة التشغيل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786344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readyState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حالة التحميل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623774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networkState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حالة الشبكة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06673"/>
                  </a:ext>
                </a:extLst>
              </a:tr>
              <a:tr h="469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src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مسار الفيديو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27798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AC1B0C-889D-4E49-48DD-36A171748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781925"/>
              </p:ext>
            </p:extLst>
          </p:nvPr>
        </p:nvGraphicFramePr>
        <p:xfrm>
          <a:off x="7114231" y="1100628"/>
          <a:ext cx="4370344" cy="267855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185172">
                  <a:extLst>
                    <a:ext uri="{9D8B030D-6E8A-4147-A177-3AD203B41FA5}">
                      <a16:colId xmlns:a16="http://schemas.microsoft.com/office/drawing/2014/main" val="3378926255"/>
                    </a:ext>
                  </a:extLst>
                </a:gridCol>
                <a:gridCol w="2185172">
                  <a:extLst>
                    <a:ext uri="{9D8B030D-6E8A-4147-A177-3AD203B41FA5}">
                      <a16:colId xmlns:a16="http://schemas.microsoft.com/office/drawing/2014/main" val="2424670843"/>
                    </a:ext>
                  </a:extLst>
                </a:gridCol>
              </a:tblGrid>
              <a:tr h="38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>
                          <a:solidFill>
                            <a:srgbClr val="FF0000"/>
                          </a:solidFill>
                        </a:rPr>
                        <a:t>الوصف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125277"/>
                  </a:ext>
                </a:extLst>
              </a:tr>
              <a:tr h="38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أزرار التشغيل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21588"/>
                  </a:ext>
                </a:extLst>
              </a:tr>
              <a:tr h="38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تشغيل تلقائي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6387149"/>
                  </a:ext>
                </a:extLst>
              </a:tr>
              <a:tr h="38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إعادة التشغيل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288063"/>
                  </a:ext>
                </a:extLst>
              </a:tr>
              <a:tr h="38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كتم الصوت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699840"/>
                  </a:ext>
                </a:extLst>
              </a:tr>
              <a:tr h="38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صورة قبل التشغيل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248233"/>
                  </a:ext>
                </a:extLst>
              </a:tr>
              <a:tr h="38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تحميل مسبق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49429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8910DD4-F42E-5482-0AAA-C0BD628068BF}"/>
              </a:ext>
            </a:extLst>
          </p:cNvPr>
          <p:cNvSpPr txBox="1"/>
          <p:nvPr/>
        </p:nvSpPr>
        <p:spPr>
          <a:xfrm>
            <a:off x="1815537" y="248825"/>
            <a:ext cx="3368709" cy="6463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/>
              <a:t>Video Properties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904DF6B-2061-0771-520F-CA6B329D9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29918"/>
              </p:ext>
            </p:extLst>
          </p:nvPr>
        </p:nvGraphicFramePr>
        <p:xfrm>
          <a:off x="7114231" y="4780375"/>
          <a:ext cx="4370344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5172">
                  <a:extLst>
                    <a:ext uri="{9D8B030D-6E8A-4147-A177-3AD203B41FA5}">
                      <a16:colId xmlns:a16="http://schemas.microsoft.com/office/drawing/2014/main" val="642451616"/>
                    </a:ext>
                  </a:extLst>
                </a:gridCol>
                <a:gridCol w="2185172">
                  <a:extLst>
                    <a:ext uri="{9D8B030D-6E8A-4147-A177-3AD203B41FA5}">
                      <a16:colId xmlns:a16="http://schemas.microsoft.com/office/drawing/2014/main" val="653199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>
                          <a:solidFill>
                            <a:srgbClr val="FF0000"/>
                          </a:solidFill>
                        </a:rPr>
                        <a:t>الوظيفة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387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play()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تشغيل الفيديو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679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pause()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إيقاف مؤقت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620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load()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إعادة تحميل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237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canPlayType</a:t>
                      </a:r>
                      <a:r>
                        <a:rPr lang="en-US" sz="1400" dirty="0"/>
                        <a:t>("video/mp4")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فحص دعم الصيغة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166460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3B5C0EB7-2247-E8BD-2F75-8D0B8DAAD020}"/>
              </a:ext>
            </a:extLst>
          </p:cNvPr>
          <p:cNvSpPr txBox="1"/>
          <p:nvPr/>
        </p:nvSpPr>
        <p:spPr>
          <a:xfrm>
            <a:off x="7615048" y="248825"/>
            <a:ext cx="3368709" cy="64633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/>
              <a:t>Video Attributes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29C620-CA5D-8E7C-ADC5-77D8446161B6}"/>
              </a:ext>
            </a:extLst>
          </p:cNvPr>
          <p:cNvSpPr txBox="1"/>
          <p:nvPr/>
        </p:nvSpPr>
        <p:spPr>
          <a:xfrm>
            <a:off x="7615047" y="3956611"/>
            <a:ext cx="3368709" cy="64633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/>
              <a:t>Video Methods</a:t>
            </a:r>
          </a:p>
        </p:txBody>
      </p:sp>
    </p:spTree>
    <p:extLst>
      <p:ext uri="{BB962C8B-B14F-4D97-AF65-F5344CB8AC3E}">
        <p14:creationId xmlns:p14="http://schemas.microsoft.com/office/powerpoint/2010/main" val="383634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68F72E-7569-17FA-C153-73C80C0F69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7120404"/>
              </p:ext>
            </p:extLst>
          </p:nvPr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239410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54395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b="1" dirty="0">
                          <a:solidFill>
                            <a:srgbClr val="FF0000"/>
                          </a:solidFill>
                        </a:rPr>
                        <a:t>متى يحدث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76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عند التشغيل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238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عند الإيقاف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76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عند الانتهاء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3222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أثناء التشغيل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318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loadeddata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عند تحميل البيانات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343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جاهز للتشغيل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445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تحميل مؤقت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135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volumechange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تغيير الصوت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785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seeking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أثناء القفز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707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seeked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بعد القفز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905573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E65D9027-5FB7-78C3-1B61-8006A933A3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/>
              <a:t>Video Events</a:t>
            </a:r>
          </a:p>
        </p:txBody>
      </p:sp>
    </p:spTree>
    <p:extLst>
      <p:ext uri="{BB962C8B-B14F-4D97-AF65-F5344CB8AC3E}">
        <p14:creationId xmlns:p14="http://schemas.microsoft.com/office/powerpoint/2010/main" val="39411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65130" y="269493"/>
            <a:ext cx="8948057" cy="123110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&lt;input type=“range” min=0 max=100 step=any value=0 /&gt;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 err="1">
                <a:solidFill>
                  <a:srgbClr val="FF0000"/>
                </a:solidFill>
              </a:rPr>
              <a:t>Videoobject.currentTime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dirty="0"/>
              <a:t>= 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 err="1">
                <a:solidFill>
                  <a:srgbClr val="FF0000"/>
                </a:solidFill>
              </a:rPr>
              <a:t>e.target.value</a:t>
            </a:r>
            <a:r>
              <a:rPr lang="en-US" sz="2000" b="1" dirty="0">
                <a:solidFill>
                  <a:srgbClr val="FF0000"/>
                </a:solidFill>
              </a:rPr>
              <a:t> * </a:t>
            </a:r>
            <a:r>
              <a:rPr lang="en-US" sz="2000" b="1" dirty="0" err="1">
                <a:solidFill>
                  <a:srgbClr val="FF0000"/>
                </a:solidFill>
              </a:rPr>
              <a:t>video.duration</a:t>
            </a:r>
            <a:r>
              <a:rPr lang="en-US" sz="2000" b="1" dirty="0">
                <a:solidFill>
                  <a:srgbClr val="FF0000"/>
                </a:solidFill>
              </a:rPr>
              <a:t>) / </a:t>
            </a:r>
            <a:r>
              <a:rPr lang="en-US" sz="2000" b="1" dirty="0" err="1">
                <a:solidFill>
                  <a:srgbClr val="FF0000"/>
                </a:solidFill>
              </a:rPr>
              <a:t>e.target.max</a:t>
            </a:r>
            <a:r>
              <a:rPr lang="en-US" sz="2000" b="1" dirty="0">
                <a:solidFill>
                  <a:srgbClr val="FF0000"/>
                </a:solidFill>
              </a:rPr>
              <a:t> ;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428567"/>
            <a:ext cx="8020594" cy="23982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828800" y="3269984"/>
            <a:ext cx="65314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6251" y="3244334"/>
            <a:ext cx="65314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68389"/>
            <a:ext cx="8020594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Duration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948869-515C-A71B-7FFC-94D629342DF3}"/>
              </a:ext>
            </a:extLst>
          </p:cNvPr>
          <p:cNvSpPr/>
          <p:nvPr/>
        </p:nvSpPr>
        <p:spPr>
          <a:xfrm>
            <a:off x="1828800" y="2172929"/>
            <a:ext cx="796413" cy="7699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72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223" y="85722"/>
            <a:ext cx="4599303" cy="1038968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Drag And Drop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6241" y="2081986"/>
            <a:ext cx="3757748" cy="24703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164285" y="2081984"/>
            <a:ext cx="3919559" cy="24703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966454" y="2342088"/>
            <a:ext cx="953588" cy="6662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Img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675798" y="2342088"/>
            <a:ext cx="953588" cy="6662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Img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280749" y="-292"/>
            <a:ext cx="690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 events: </a:t>
            </a:r>
            <a:r>
              <a:rPr lang="en-US" dirty="0" err="1"/>
              <a:t>Dragstart</a:t>
            </a:r>
            <a:r>
              <a:rPr lang="en-US" dirty="0"/>
              <a:t> , </a:t>
            </a:r>
            <a:r>
              <a:rPr lang="en-US" dirty="0" err="1"/>
              <a:t>dragend</a:t>
            </a:r>
            <a:r>
              <a:rPr lang="en-US" dirty="0"/>
              <a:t> , </a:t>
            </a:r>
            <a:r>
              <a:rPr lang="en-US" dirty="0" err="1"/>
              <a:t>dragover</a:t>
            </a:r>
            <a:r>
              <a:rPr lang="en-US" dirty="0"/>
              <a:t> , </a:t>
            </a:r>
            <a:r>
              <a:rPr lang="en-US" dirty="0" err="1"/>
              <a:t>dragleave</a:t>
            </a:r>
            <a:r>
              <a:rPr lang="en-US" dirty="0"/>
              <a:t> , </a:t>
            </a:r>
            <a:r>
              <a:rPr lang="en-US" dirty="0" err="1"/>
              <a:t>dragenter</a:t>
            </a:r>
            <a:r>
              <a:rPr lang="en-US" dirty="0"/>
              <a:t> ,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712652"/>
            <a:ext cx="96665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7234" y="1704327"/>
            <a:ext cx="96665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023" y="863230"/>
            <a:ext cx="1867988" cy="1811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966269" y="2354727"/>
            <a:ext cx="953588" cy="6662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Img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596493" y="4737533"/>
            <a:ext cx="3694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e.dataTransfer.setData</a:t>
            </a:r>
            <a:r>
              <a:rPr lang="en-US" dirty="0"/>
              <a:t>(</a:t>
            </a:r>
            <a:r>
              <a:rPr lang="en-US" dirty="0" err="1"/>
              <a:t>key,value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e.dataTransfer.getData</a:t>
            </a:r>
            <a:r>
              <a:rPr lang="en-US" dirty="0"/>
              <a:t>((key)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FAAF1B-B968-3725-E53E-93455D1761F1}"/>
              </a:ext>
            </a:extLst>
          </p:cNvPr>
          <p:cNvSpPr/>
          <p:nvPr/>
        </p:nvSpPr>
        <p:spPr>
          <a:xfrm>
            <a:off x="609026" y="2257357"/>
            <a:ext cx="953588" cy="6662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Img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CE9FB0-4272-B1B4-C22A-C97F4D290FD5}"/>
              </a:ext>
            </a:extLst>
          </p:cNvPr>
          <p:cNvSpPr txBox="1"/>
          <p:nvPr/>
        </p:nvSpPr>
        <p:spPr>
          <a:xfrm>
            <a:off x="7357811" y="3767679"/>
            <a:ext cx="1147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dragleave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F26F38-2C3B-D72F-B8AA-18329D8D0546}"/>
              </a:ext>
            </a:extLst>
          </p:cNvPr>
          <p:cNvSpPr txBox="1"/>
          <p:nvPr/>
        </p:nvSpPr>
        <p:spPr>
          <a:xfrm>
            <a:off x="7943033" y="3046840"/>
            <a:ext cx="1147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Dragstart</a:t>
            </a:r>
            <a:endParaRPr lang="en-US" dirty="0"/>
          </a:p>
          <a:p>
            <a:r>
              <a:rPr lang="en-US" dirty="0" err="1"/>
              <a:t>dragend</a:t>
            </a:r>
            <a:r>
              <a:rPr lang="en-US" dirty="0"/>
              <a:t> 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D3CC42D-BF37-5A10-2B11-2BCCA3CF3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688852"/>
              </p:ext>
            </p:extLst>
          </p:nvPr>
        </p:nvGraphicFramePr>
        <p:xfrm>
          <a:off x="8261275" y="4648758"/>
          <a:ext cx="3757748" cy="18288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878874">
                  <a:extLst>
                    <a:ext uri="{9D8B030D-6E8A-4147-A177-3AD203B41FA5}">
                      <a16:colId xmlns:a16="http://schemas.microsoft.com/office/drawing/2014/main" val="870980040"/>
                    </a:ext>
                  </a:extLst>
                </a:gridCol>
                <a:gridCol w="1878874">
                  <a:extLst>
                    <a:ext uri="{9D8B030D-6E8A-4147-A177-3AD203B41FA5}">
                      <a16:colId xmlns:a16="http://schemas.microsoft.com/office/drawing/2014/main" val="401867888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متى يحدث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33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dragstart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عند بدء السحب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6449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أثناء السحب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863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dragend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عند انتهاء السحب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223727"/>
                  </a:ext>
                </a:extLst>
              </a:tr>
            </a:tbl>
          </a:graphicData>
        </a:graphic>
      </p:graphicFrame>
      <p:graphicFrame>
        <p:nvGraphicFramePr>
          <p:cNvPr id="26" name="Content Placeholder 3">
            <a:extLst>
              <a:ext uri="{FF2B5EF4-FFF2-40B4-BE49-F238E27FC236}">
                <a16:creationId xmlns:a16="http://schemas.microsoft.com/office/drawing/2014/main" id="{D77D7865-E07E-074E-4ED1-0FA495C49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3381734"/>
              </p:ext>
            </p:extLst>
          </p:nvPr>
        </p:nvGraphicFramePr>
        <p:xfrm>
          <a:off x="272085" y="4660022"/>
          <a:ext cx="4018934" cy="18288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09467">
                  <a:extLst>
                    <a:ext uri="{9D8B030D-6E8A-4147-A177-3AD203B41FA5}">
                      <a16:colId xmlns:a16="http://schemas.microsoft.com/office/drawing/2014/main" val="3533185694"/>
                    </a:ext>
                  </a:extLst>
                </a:gridCol>
                <a:gridCol w="2009467">
                  <a:extLst>
                    <a:ext uri="{9D8B030D-6E8A-4147-A177-3AD203B41FA5}">
                      <a16:colId xmlns:a16="http://schemas.microsoft.com/office/drawing/2014/main" val="3860250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الوظيفة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752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dragenter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دخول العنصر المسحوب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066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dragover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المرور فوق المنطقة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062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dragleave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الخروج من المنطقة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16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إفلات العنصر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67974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396A09E-AAEF-6F84-9328-0184C6A81565}"/>
              </a:ext>
            </a:extLst>
          </p:cNvPr>
          <p:cNvSpPr txBox="1"/>
          <p:nvPr/>
        </p:nvSpPr>
        <p:spPr>
          <a:xfrm>
            <a:off x="9499911" y="4191328"/>
            <a:ext cx="1280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Drag Events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FFEB7A-AB86-7309-54EE-3524D61F3D55}"/>
              </a:ext>
            </a:extLst>
          </p:cNvPr>
          <p:cNvSpPr txBox="1"/>
          <p:nvPr/>
        </p:nvSpPr>
        <p:spPr>
          <a:xfrm>
            <a:off x="1664250" y="4183003"/>
            <a:ext cx="1459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Drop Events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31617A-6D6C-4002-25EF-1588516F0775}"/>
              </a:ext>
            </a:extLst>
          </p:cNvPr>
          <p:cNvCxnSpPr>
            <a:cxnSpLocks/>
          </p:cNvCxnSpPr>
          <p:nvPr/>
        </p:nvCxnSpPr>
        <p:spPr>
          <a:xfrm flipH="1">
            <a:off x="3726426" y="2659150"/>
            <a:ext cx="421660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615158"/>
              </p:ext>
            </p:extLst>
          </p:nvPr>
        </p:nvGraphicFramePr>
        <p:xfrm>
          <a:off x="4585498" y="5994770"/>
          <a:ext cx="338129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2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myimg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573040" y="6367118"/>
            <a:ext cx="239375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=“1.jpg”/&gt;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F4DE6D-9225-9F08-EB6A-50853746CB26}"/>
              </a:ext>
            </a:extLst>
          </p:cNvPr>
          <p:cNvSpPr txBox="1"/>
          <p:nvPr/>
        </p:nvSpPr>
        <p:spPr>
          <a:xfrm>
            <a:off x="5543688" y="5584440"/>
            <a:ext cx="154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dataTransfer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045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Example – shopping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src</a:t>
            </a:r>
            <a:r>
              <a:rPr lang="en-US" dirty="0"/>
              <a:t>:”up/1.jpg”,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Descrition</a:t>
            </a:r>
            <a:r>
              <a:rPr lang="en-US" dirty="0"/>
              <a:t>:””,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Instock</a:t>
            </a:r>
            <a:r>
              <a:rPr lang="en-US" dirty="0"/>
              <a:t>:””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=“up/1.jpg” data-stock=“5” data-price=“100”/&gt;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=“up/2.jpg” data-stock=“50” data-price=“20”/&gt;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2246811" y="3644537"/>
            <a:ext cx="3553098" cy="133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86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D09464A-173E-C351-A22D-F48B71967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32" y="323208"/>
            <a:ext cx="10256935" cy="621158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9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Geolocation</a:t>
            </a:r>
            <a:r>
              <a:rPr lang="en-US" dirty="0"/>
              <a:t>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Get </a:t>
            </a:r>
            <a:r>
              <a:rPr lang="en-US" dirty="0" err="1"/>
              <a:t>geolgraphcal</a:t>
            </a:r>
            <a:r>
              <a:rPr lang="en-US" dirty="0"/>
              <a:t> location for current connected user :; </a:t>
            </a:r>
          </a:p>
          <a:p>
            <a:pPr marL="0" indent="0">
              <a:buNone/>
            </a:pPr>
            <a:r>
              <a:rPr lang="en-US" dirty="0" err="1"/>
              <a:t>Coords</a:t>
            </a:r>
            <a:r>
              <a:rPr lang="en-US" dirty="0"/>
              <a:t>: latitude , longitude </a:t>
            </a:r>
          </a:p>
          <a:p>
            <a:pPr marL="0" indent="0">
              <a:buNone/>
            </a:pPr>
            <a:r>
              <a:rPr lang="en-US" dirty="0"/>
              <a:t>Timestamp : </a:t>
            </a:r>
            <a:r>
              <a:rPr lang="en-US" dirty="0" err="1"/>
              <a:t>datetime</a:t>
            </a:r>
            <a:r>
              <a:rPr lang="en-US" dirty="0"/>
              <a:t> for current connected user in </a:t>
            </a:r>
            <a:r>
              <a:rPr lang="en-US" dirty="0" err="1"/>
              <a:t>miiliiseconds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911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</a:t>
            </a:r>
            <a:r>
              <a:rPr lang="en-US" dirty="0" err="1"/>
              <a:t>geolocation</a:t>
            </a:r>
            <a:r>
              <a:rPr lang="en-US" dirty="0"/>
              <a:t>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21577" y="1690688"/>
            <a:ext cx="606116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1- check </a:t>
            </a:r>
            <a:r>
              <a:rPr lang="en-US" dirty="0" err="1"/>
              <a:t>avaialitiy</a:t>
            </a:r>
            <a:r>
              <a:rPr lang="en-US" dirty="0"/>
              <a:t> of </a:t>
            </a:r>
            <a:r>
              <a:rPr lang="en-US" dirty="0" err="1"/>
              <a:t>geolocation</a:t>
            </a:r>
            <a:r>
              <a:rPr lang="en-US" dirty="0"/>
              <a:t> in user browser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226526" y="2207623"/>
            <a:ext cx="2704011" cy="796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956663" y="2233749"/>
            <a:ext cx="2534194" cy="849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07177" y="3148149"/>
            <a:ext cx="3200400" cy="56170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1428" y="3104732"/>
            <a:ext cx="3200400" cy="5617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3394" y="3853543"/>
            <a:ext cx="347472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Message :  update 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103120" y="3853543"/>
            <a:ext cx="1933303" cy="36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0262" y="4428648"/>
            <a:ext cx="606116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2-get </a:t>
            </a:r>
            <a:r>
              <a:rPr lang="en-US" dirty="0" err="1"/>
              <a:t>permsission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1058092" y="4845308"/>
            <a:ext cx="2704011" cy="796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788229" y="4871434"/>
            <a:ext cx="2534194" cy="849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-261257" y="5785834"/>
            <a:ext cx="3200400" cy="56170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2994" y="5742417"/>
            <a:ext cx="3200400" cy="5617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497" y="6386070"/>
            <a:ext cx="347472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Message :  update 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005840" y="6523707"/>
            <a:ext cx="606116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Get data from </a:t>
            </a:r>
            <a:r>
              <a:rPr lang="en-US" dirty="0" err="1"/>
              <a:t>geolocation</a:t>
            </a:r>
            <a:r>
              <a:rPr lang="en-US" dirty="0"/>
              <a:t> object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822960" y="1432221"/>
            <a:ext cx="188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If(myobj.name)</a:t>
            </a:r>
          </a:p>
        </p:txBody>
      </p:sp>
    </p:spTree>
    <p:extLst>
      <p:ext uri="{BB962C8B-B14F-4D97-AF65-F5344CB8AC3E}">
        <p14:creationId xmlns:p14="http://schemas.microsoft.com/office/powerpoint/2010/main" val="2652785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Lat , </a:t>
            </a:r>
            <a:r>
              <a:rPr lang="en-US" dirty="0" err="1"/>
              <a:t>lon</a:t>
            </a:r>
            <a:r>
              <a:rPr lang="en-US" dirty="0"/>
              <a:t> from geolocation </a:t>
            </a:r>
          </a:p>
          <a:p>
            <a:pPr marL="0" indent="0">
              <a:buNone/>
            </a:pPr>
            <a:r>
              <a:rPr lang="en-US" dirty="0"/>
              <a:t>// google maps </a:t>
            </a:r>
            <a:r>
              <a:rPr lang="en-US" dirty="0" err="1"/>
              <a:t>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//1- create object from google maps </a:t>
            </a:r>
            <a:r>
              <a:rPr lang="en-US" dirty="0" err="1"/>
              <a:t>latlon</a:t>
            </a:r>
            <a:r>
              <a:rPr lang="en-US" dirty="0"/>
              <a:t> (</a:t>
            </a:r>
            <a:r>
              <a:rPr lang="en-US" dirty="0" err="1"/>
              <a:t>lat,lon</a:t>
            </a:r>
            <a:r>
              <a:rPr lang="en-US" dirty="0"/>
              <a:t>) =&gt; location</a:t>
            </a:r>
          </a:p>
          <a:p>
            <a:pPr marL="0" indent="0">
              <a:buNone/>
            </a:pPr>
            <a:r>
              <a:rPr lang="en-US" dirty="0"/>
              <a:t>//2- specs for map : {zoom : 17, center : location from step 1}</a:t>
            </a:r>
          </a:p>
          <a:p>
            <a:pPr marL="0" indent="0">
              <a:buNone/>
            </a:pPr>
            <a:r>
              <a:rPr lang="en-US" dirty="0"/>
              <a:t>//3- retrieve google map : display map</a:t>
            </a:r>
          </a:p>
        </p:txBody>
      </p:sp>
    </p:spTree>
    <p:extLst>
      <p:ext uri="{BB962C8B-B14F-4D97-AF65-F5344CB8AC3E}">
        <p14:creationId xmlns:p14="http://schemas.microsoft.com/office/powerpoint/2010/main" val="80259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API Key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Geolocation : </a:t>
            </a:r>
            <a:r>
              <a:rPr lang="en-US" dirty="0" err="1"/>
              <a:t>lat</a:t>
            </a:r>
            <a:r>
              <a:rPr lang="en-US" dirty="0"/>
              <a:t> , </a:t>
            </a:r>
            <a:r>
              <a:rPr lang="en-US" dirty="0" err="1"/>
              <a:t>lon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1- to deal with </a:t>
            </a:r>
            <a:r>
              <a:rPr lang="en-US" dirty="0" err="1"/>
              <a:t>google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Create object using </a:t>
            </a:r>
            <a:r>
              <a:rPr lang="en-US" dirty="0" err="1"/>
              <a:t>google</a:t>
            </a:r>
            <a:r>
              <a:rPr lang="en-US" dirty="0"/>
              <a:t> </a:t>
            </a:r>
            <a:r>
              <a:rPr lang="en-US" dirty="0" err="1"/>
              <a:t>constr</a:t>
            </a:r>
            <a:r>
              <a:rPr lang="en-US" dirty="0"/>
              <a:t> . Pass for this object </a:t>
            </a:r>
            <a:r>
              <a:rPr lang="en-US" dirty="0" err="1"/>
              <a:t>lat</a:t>
            </a:r>
            <a:r>
              <a:rPr lang="en-US" dirty="0"/>
              <a:t> , </a:t>
            </a:r>
            <a:r>
              <a:rPr lang="en-US" dirty="0" err="1"/>
              <a:t>lon</a:t>
            </a:r>
            <a:r>
              <a:rPr lang="en-US" dirty="0"/>
              <a:t>  : location</a:t>
            </a:r>
          </a:p>
          <a:p>
            <a:pPr marL="0" indent="0">
              <a:buNone/>
            </a:pPr>
            <a:r>
              <a:rPr lang="en-US" dirty="0"/>
              <a:t>2- specify specs for map : {zoom:15 , </a:t>
            </a:r>
            <a:r>
              <a:rPr lang="en-US" dirty="0" err="1"/>
              <a:t>center:location</a:t>
            </a:r>
            <a:r>
              <a:rPr lang="en-US" dirty="0"/>
              <a:t>(step one)}</a:t>
            </a:r>
          </a:p>
          <a:p>
            <a:pPr marL="0" indent="0">
              <a:buNone/>
            </a:pPr>
            <a:r>
              <a:rPr lang="en-US" dirty="0"/>
              <a:t>3- display map </a:t>
            </a:r>
          </a:p>
        </p:txBody>
      </p:sp>
    </p:spTree>
    <p:extLst>
      <p:ext uri="{BB962C8B-B14F-4D97-AF65-F5344CB8AC3E}">
        <p14:creationId xmlns:p14="http://schemas.microsoft.com/office/powerpoint/2010/main" val="1408585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63E4-B7EB-4F68-7ADF-EF2F31F60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9D1-F163-FC09-370A-37F044CD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Form Enhancement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C9430A-EF53-9C20-3762-E3D390DC469A}"/>
              </a:ext>
            </a:extLst>
          </p:cNvPr>
          <p:cNvSpPr/>
          <p:nvPr/>
        </p:nvSpPr>
        <p:spPr>
          <a:xfrm>
            <a:off x="838200" y="2141681"/>
            <a:ext cx="3449782" cy="3906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ar(--ds-font-family-code)"/>
            </a:endParaRPr>
          </a:p>
          <a:p>
            <a:pPr algn="ctr"/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New Input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ar(--ds-font-family-code)"/>
              </a:rPr>
              <a:t>email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var(--ds-font-family-code)"/>
              </a:rPr>
              <a:t>url</a:t>
            </a:r>
            <a:endParaRPr lang="en-US" sz="2000" b="1" dirty="0">
              <a:solidFill>
                <a:schemeClr val="bg1"/>
              </a:solidFill>
              <a:latin typeface="var(--ds-font-family-code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var(--ds-font-family-code)"/>
              </a:rPr>
              <a:t>number ( min , max and step 	attribute)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var(--ds-font-family-code)"/>
              </a:rPr>
              <a:t>range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var(--ds-font-family-code)"/>
              </a:rPr>
              <a:t>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var(--ds-font-family-code)"/>
              </a:rPr>
              <a:t>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var(--ds-font-family-code)"/>
              </a:rPr>
              <a:t>color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var(--ds-font-family-code)"/>
              </a:rPr>
              <a:t>Tel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var(--ds-font-family-code)"/>
              </a:rPr>
              <a:t>datalist</a:t>
            </a:r>
            <a:endParaRPr lang="en-US" sz="2000" b="1" dirty="0">
              <a:solidFill>
                <a:schemeClr val="bg1"/>
              </a:solidFill>
              <a:latin typeface="var(--ds-font-family-code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var(--ds-font-family-code)"/>
              </a:rPr>
              <a:t>datetime-local (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Inter"/>
              </a:rPr>
              <a:t>date and 	time )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3CFE0C-C132-4B4E-6578-3EF11492CFA1}"/>
              </a:ext>
            </a:extLst>
          </p:cNvPr>
          <p:cNvSpPr/>
          <p:nvPr/>
        </p:nvSpPr>
        <p:spPr>
          <a:xfrm>
            <a:off x="6373091" y="2141681"/>
            <a:ext cx="3449782" cy="3906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 dirty="0">
                <a:solidFill>
                  <a:srgbClr val="404040"/>
                </a:solidFill>
                <a:effectLst/>
                <a:latin typeface="Inter"/>
              </a:rPr>
              <a:t>New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Nonvalidate</a:t>
            </a:r>
            <a:r>
              <a:rPr lang="en-US" sz="2400" dirty="0"/>
              <a:t> (for form)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placeholder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hidden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autofocus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pattern="[0-9]{5}"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min, max, and step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multiple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autocomplete="off"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B3114-890E-8D47-6CA6-7867B84BDCAB}"/>
              </a:ext>
            </a:extLst>
          </p:cNvPr>
          <p:cNvSpPr/>
          <p:nvPr/>
        </p:nvSpPr>
        <p:spPr>
          <a:xfrm>
            <a:off x="8963891" y="365125"/>
            <a:ext cx="292330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Caneditable</a:t>
            </a:r>
            <a:endParaRPr lang="en-US" dirty="0"/>
          </a:p>
          <a:p>
            <a:pPr algn="ctr"/>
            <a:r>
              <a:rPr lang="en-US" dirty="0"/>
              <a:t>Data-*</a:t>
            </a:r>
          </a:p>
        </p:txBody>
      </p:sp>
    </p:spTree>
    <p:extLst>
      <p:ext uri="{BB962C8B-B14F-4D97-AF65-F5344CB8AC3E}">
        <p14:creationId xmlns:p14="http://schemas.microsoft.com/office/powerpoint/2010/main" val="1503969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ist of text on a white background">
            <a:extLst>
              <a:ext uri="{FF2B5EF4-FFF2-40B4-BE49-F238E27FC236}">
                <a16:creationId xmlns:a16="http://schemas.microsoft.com/office/drawing/2014/main" id="{9743331E-D4AC-D3A9-81AB-67B605407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148" y="85413"/>
            <a:ext cx="7524151" cy="60901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9135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635CCCF636F6469FA79A8DEC40C8E5" ma:contentTypeVersion="11" ma:contentTypeDescription="Create a new document." ma:contentTypeScope="" ma:versionID="e5bf127b21ef0d26e25712e110c8135d">
  <xsd:schema xmlns:xsd="http://www.w3.org/2001/XMLSchema" xmlns:xs="http://www.w3.org/2001/XMLSchema" xmlns:p="http://schemas.microsoft.com/office/2006/metadata/properties" xmlns:ns2="4dcd2595-b76d-4e34-bc8f-b6eb8a79c5bb" xmlns:ns3="62567dbb-df85-433f-946f-d35b3dbc5e0e" targetNamespace="http://schemas.microsoft.com/office/2006/metadata/properties" ma:root="true" ma:fieldsID="980f60f285dd8ff21e9599e8f1f5eb84" ns2:_="" ns3:_="">
    <xsd:import namespace="4dcd2595-b76d-4e34-bc8f-b6eb8a79c5bb"/>
    <xsd:import namespace="62567dbb-df85-433f-946f-d35b3dbc5e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cd2595-b76d-4e34-bc8f-b6eb8a79c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67dbb-df85-433f-946f-d35b3dbc5e0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1d2f805-1408-42a0-be00-3692177d21f8}" ma:internalName="TaxCatchAll" ma:showField="CatchAllData" ma:web="62567dbb-df85-433f-946f-d35b3dbc5e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2567dbb-df85-433f-946f-d35b3dbc5e0e" xsi:nil="true"/>
    <lcf76f155ced4ddcb4097134ff3c332f xmlns="4dcd2595-b76d-4e34-bc8f-b6eb8a79c5b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9AA2D66-CC84-4A49-BAA6-BC2AB8CDE0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7664C7-3CB8-40CC-A92F-083E041E42CC}"/>
</file>

<file path=customXml/itemProps3.xml><?xml version="1.0" encoding="utf-8"?>
<ds:datastoreItem xmlns:ds="http://schemas.openxmlformats.org/officeDocument/2006/customXml" ds:itemID="{3850C259-BA0B-4EFA-9819-099E98D682EF}">
  <ds:schemaRefs>
    <ds:schemaRef ds:uri="http://www.w3.org/XML/1998/namespace"/>
    <ds:schemaRef ds:uri="http://schemas.microsoft.com/office/2006/metadata/properties"/>
    <ds:schemaRef ds:uri="ad79860f-5537-47a2-85c7-ea24a07fa583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ad850c7f-2a44-4b49-a49b-fb9106b72b48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579</Words>
  <Application>Microsoft Office PowerPoint</Application>
  <PresentationFormat>Widescreen</PresentationFormat>
  <Paragraphs>197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Inter</vt:lpstr>
      <vt:lpstr>var(--ds-font-family-code)</vt:lpstr>
      <vt:lpstr>Office Theme</vt:lpstr>
      <vt:lpstr>HTML5-D03</vt:lpstr>
      <vt:lpstr>PowerPoint Presentation</vt:lpstr>
      <vt:lpstr>Video Events</vt:lpstr>
      <vt:lpstr>PowerPoint Presentation</vt:lpstr>
      <vt:lpstr>Drag And Drop Api</vt:lpstr>
      <vt:lpstr>Real Example – shopping cart</vt:lpstr>
      <vt:lpstr>PowerPoint Presentation</vt:lpstr>
      <vt:lpstr>Geolocation API</vt:lpstr>
      <vt:lpstr>Steps for geolocation api</vt:lpstr>
      <vt:lpstr>PowerPoint Presentation</vt:lpstr>
      <vt:lpstr>Get API Key </vt:lpstr>
      <vt:lpstr>Form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HTML5-D03</dc:title>
  <dc:creator>Microsoft account</dc:creator>
  <cp:lastModifiedBy>Mona Ali Mostafa Metwauy</cp:lastModifiedBy>
  <cp:revision>68</cp:revision>
  <dcterms:created xsi:type="dcterms:W3CDTF">2023-01-17T11:04:20Z</dcterms:created>
  <dcterms:modified xsi:type="dcterms:W3CDTF">2026-01-03T12:13:39Z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0x01010030635CCCF636F6469FA79A8DEC40C8E5</vt:lpwstr>
  </property>
  <property fmtid="{D5CDD505-2E9C-101B-9397-08002B2CF9AE}" pid="3" name="MediaServiceImageTags">
    <vt:lpwstr/>
  </property>
</Properties>
</file>